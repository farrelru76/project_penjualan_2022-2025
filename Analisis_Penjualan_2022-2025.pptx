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977A22F9-0363-9560-E9DD-C03A6425CFB1}">
          <p14:sldIdLst>
            <p14:sldId id="256"/>
          </p14:sldIdLst>
        </p14:section>
        <p14:section name="Data" id="{07FF373A-2D69-2BD2-B691-95ECC000A620}">
          <p14:sldIdLst>
            <p14:sldId id="257"/>
          </p14:sldIdLst>
        </p14:section>
        <p14:section name="Hasil" id="{B2B61E8B-5EED-4577-31EF-F662B1161F7B}">
          <p14:sldIdLst>
            <p14:sldId id="258"/>
            <p14:sldId id="259"/>
            <p14:sldId id="260"/>
          </p14:sldIdLst>
        </p14:section>
        <p14:section name="Penutup" id="{8D3FDFC1-8483-E22A-ED49-E019C0BB775B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3126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Perkenalan singkat: proyek ini membersihkan 18.000+ transaksi penjualan lalu menyajikannya dalam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mentah tidak diubah langsung; semua kerja di tabel salinan. Baris meragukan diberi flag agar tidak ada informasi yang hilang diam-diam.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Angka ini sama dengan dashboard Power BI setelah filter is_revenue_order = 1 dan dengan view v_sales di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temuan utama. Margin hampir sama di semua tahun, channel, dan negara; perbedaan baru muncul saat dipecah per tingkat diskon. Kode promo juga tidak menghasilkan margin lebih baik.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 terjadi pada 8,9% order dan pembatalan 5%; alasan retur tersebar merata sehingga tidak ada satu penyebab dominan.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DUL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I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400" b="1" dirty="0">
                <a:solidFill>
                  <a:srgbClr val="1A237E"/>
                </a:solidFill>
              </a:defRPr>
            </a:lvl1pPr>
          </a:lstStyle>
          <a:p>
            <a:pPr marL="0" indent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"/>
          <p:cNvSpPr txBox="1"/>
          <p:nvPr/>
        </p:nvSpPr>
        <p:spPr>
          <a:xfrm>
            <a:off x="640080" y="11887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Analisis Performa Penjualan Retail 2022–2025</a:t>
            </a:r>
            <a:endParaRPr lang="en-US" sz="3600" dirty="0"/>
          </a:p>
        </p:txBody>
      </p:sp>
      <p:sp>
        <p:nvSpPr>
          <p:cNvPr id="3" name="Subjudul"/>
          <p:cNvSpPr txBox="1"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2FE"/>
                </a:solidFill>
              </a:rPr>
              <a:t>Dari pembersihan data dengan SQL sampai dashboard Power BI</a:t>
            </a:r>
            <a:endParaRPr lang="en-US" sz="1800" dirty="0"/>
          </a:p>
        </p:txBody>
      </p:sp>
      <p:sp>
        <p:nvSpPr>
          <p:cNvPr id="4" name="Nama"/>
          <p:cNvSpPr txBox="1"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Farrel Rizki Utama  |  Data Analyst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7E"/>
                </a:solidFill>
              </a:rPr>
              <a:t>Data mentah dibersihkan menjadi 18.000 baris yang bisa dipercaya</a:t>
            </a:r>
            <a:endParaRPr lang="en-US" sz="2400" dirty="0"/>
          </a:p>
        </p:txBody>
      </p:sp>
      <p:sp>
        <p:nvSpPr>
          <p:cNvPr id="3" name="c1 kartu"/>
          <p:cNvSpPr/>
          <p:nvPr/>
        </p:nvSpPr>
        <p:spPr>
          <a:xfrm>
            <a:off x="457200" y="1234440"/>
            <a:ext cx="2560320" cy="1005840"/>
          </a:xfrm>
          <a:prstGeom prst="rect">
            <a:avLst/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4" name="c1 angka"/>
          <p:cNvSpPr txBox="1"/>
          <p:nvPr/>
        </p:nvSpPr>
        <p:spPr>
          <a:xfrm>
            <a:off x="457200" y="1325880"/>
            <a:ext cx="256032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37E"/>
                </a:solidFill>
              </a:rPr>
              <a:t>18.045 → 18.000</a:t>
            </a:r>
            <a:endParaRPr lang="en-US" sz="2600" dirty="0"/>
          </a:p>
        </p:txBody>
      </p:sp>
      <p:sp>
        <p:nvSpPr>
          <p:cNvPr id="5" name="c1 label"/>
          <p:cNvSpPr txBox="1"/>
          <p:nvPr/>
        </p:nvSpPr>
        <p:spPr>
          <a:xfrm>
            <a:off x="548640" y="1817827"/>
            <a:ext cx="2377440" cy="352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baris sebelum dan sesudah cleaning</a:t>
            </a:r>
            <a:endParaRPr lang="en-US" sz="1200" dirty="0"/>
          </a:p>
        </p:txBody>
      </p:sp>
      <p:sp>
        <p:nvSpPr>
          <p:cNvPr id="6" name="c2 kartu"/>
          <p:cNvSpPr/>
          <p:nvPr/>
        </p:nvSpPr>
        <p:spPr>
          <a:xfrm>
            <a:off x="457200" y="2377440"/>
            <a:ext cx="2560320" cy="1005840"/>
          </a:xfrm>
          <a:prstGeom prst="rect">
            <a:avLst/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7" name="c2 angka"/>
          <p:cNvSpPr txBox="1"/>
          <p:nvPr/>
        </p:nvSpPr>
        <p:spPr>
          <a:xfrm>
            <a:off x="457200" y="2468880"/>
            <a:ext cx="256032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37E"/>
                </a:solidFill>
              </a:rPr>
              <a:t>45</a:t>
            </a:r>
            <a:endParaRPr lang="en-US" sz="2600" dirty="0"/>
          </a:p>
        </p:txBody>
      </p:sp>
      <p:sp>
        <p:nvSpPr>
          <p:cNvPr id="8" name="c2 label"/>
          <p:cNvSpPr txBox="1"/>
          <p:nvPr/>
        </p:nvSpPr>
        <p:spPr>
          <a:xfrm>
            <a:off x="548640" y="2960827"/>
            <a:ext cx="2377440" cy="352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baris duplikat dihapus</a:t>
            </a:r>
            <a:endParaRPr lang="en-US" sz="1200" dirty="0"/>
          </a:p>
        </p:txBody>
      </p:sp>
      <p:sp>
        <p:nvSpPr>
          <p:cNvPr id="9" name="c3 kartu"/>
          <p:cNvSpPr/>
          <p:nvPr/>
        </p:nvSpPr>
        <p:spPr>
          <a:xfrm>
            <a:off x="457200" y="3520440"/>
            <a:ext cx="2560320" cy="1005840"/>
          </a:xfrm>
          <a:prstGeom prst="rect">
            <a:avLst/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10" name="c3 angka"/>
          <p:cNvSpPr txBox="1"/>
          <p:nvPr/>
        </p:nvSpPr>
        <p:spPr>
          <a:xfrm>
            <a:off x="457200" y="3611880"/>
            <a:ext cx="256032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37E"/>
                </a:solidFill>
              </a:rPr>
              <a:t>65</a:t>
            </a:r>
            <a:endParaRPr lang="en-US" sz="2600" dirty="0"/>
          </a:p>
        </p:txBody>
      </p:sp>
      <p:sp>
        <p:nvSpPr>
          <p:cNvPr id="11" name="c3 label"/>
          <p:cNvSpPr txBox="1"/>
          <p:nvPr/>
        </p:nvSpPr>
        <p:spPr>
          <a:xfrm>
            <a:off x="548640" y="4103827"/>
            <a:ext cx="2377440" cy="352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baris tidak cocok diberi flag, bukan dihapus</a:t>
            </a:r>
            <a:endParaRPr lang="en-US" sz="1200" dirty="0"/>
          </a:p>
        </p:txBody>
      </p:sp>
      <p:sp>
        <p:nvSpPr>
          <p:cNvPr id="12" name="Langkah cleaning"/>
          <p:cNvSpPr txBox="1"/>
          <p:nvPr/>
        </p:nvSpPr>
        <p:spPr>
          <a:xfrm>
            <a:off x="3383280" y="1234440"/>
            <a:ext cx="53035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</a:rPr>
              <a:t>Standarisasi kategori: 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gender 6→4, metode bayar 10→7, status 8→5, region 14→11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</a:rPr>
              <a:t>Nilai kosong: 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nama produk diisi dari Product_ID, nilai 0 pada rating dan umur menjadi NULL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</a:rPr>
              <a:t>Nilai tidak logis: 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kuantitas, diskon, dan profit dihitung ulang dari kolom terkait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</a:rPr>
              <a:t>Definisi pendapatan: 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kolom is_revenue_order hanya untuk order Completed, Shipped, Processing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Penjualan USD 7,13 juta dengan margin sekitar 20%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" name="kpi0 kartu"/>
          <p:cNvSpPr/>
          <p:nvPr/>
        </p:nvSpPr>
        <p:spPr>
          <a:xfrm>
            <a:off x="457200" y="1143000"/>
            <a:ext cx="1920240" cy="960120"/>
          </a:xfrm>
          <a:prstGeom prst="rect">
            <a:avLst/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4" name="kpi0 angka"/>
          <p:cNvSpPr txBox="1"/>
          <p:nvPr/>
        </p:nvSpPr>
        <p:spPr>
          <a:xfrm>
            <a:off x="457200" y="1234440"/>
            <a:ext cx="192024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37E"/>
                </a:solidFill>
              </a:rPr>
              <a:t>7,13M</a:t>
            </a:r>
            <a:endParaRPr lang="en-US" sz="2600" dirty="0"/>
          </a:p>
        </p:txBody>
      </p:sp>
      <p:sp>
        <p:nvSpPr>
          <p:cNvPr id="5" name="kpi0 label"/>
          <p:cNvSpPr txBox="1"/>
          <p:nvPr/>
        </p:nvSpPr>
        <p:spPr>
          <a:xfrm>
            <a:off x="548640" y="1699870"/>
            <a:ext cx="1737360" cy="336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Total penjualan</a:t>
            </a:r>
            <a:endParaRPr lang="en-US" sz="1200" dirty="0"/>
          </a:p>
        </p:txBody>
      </p:sp>
      <p:sp>
        <p:nvSpPr>
          <p:cNvPr id="6" name="kpi1 kartu"/>
          <p:cNvSpPr/>
          <p:nvPr/>
        </p:nvSpPr>
        <p:spPr>
          <a:xfrm>
            <a:off x="2560320" y="1143000"/>
            <a:ext cx="1920240" cy="960120"/>
          </a:xfrm>
          <a:prstGeom prst="rect">
            <a:avLst/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7" name="kpi1 angka"/>
          <p:cNvSpPr txBox="1"/>
          <p:nvPr/>
        </p:nvSpPr>
        <p:spPr>
          <a:xfrm>
            <a:off x="2560320" y="1234440"/>
            <a:ext cx="192024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37E"/>
                </a:solidFill>
              </a:rPr>
              <a:t>1,42M</a:t>
            </a:r>
            <a:endParaRPr lang="en-US" sz="2600" dirty="0"/>
          </a:p>
        </p:txBody>
      </p:sp>
      <p:sp>
        <p:nvSpPr>
          <p:cNvPr id="8" name="kpi1 label"/>
          <p:cNvSpPr txBox="1"/>
          <p:nvPr/>
        </p:nvSpPr>
        <p:spPr>
          <a:xfrm>
            <a:off x="2651760" y="1699870"/>
            <a:ext cx="1737360" cy="336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Total profit</a:t>
            </a:r>
            <a:endParaRPr lang="en-US" sz="1200" dirty="0"/>
          </a:p>
        </p:txBody>
      </p:sp>
      <p:sp>
        <p:nvSpPr>
          <p:cNvPr id="9" name="kpi2 kartu"/>
          <p:cNvSpPr/>
          <p:nvPr/>
        </p:nvSpPr>
        <p:spPr>
          <a:xfrm>
            <a:off x="4663440" y="1143000"/>
            <a:ext cx="1920240" cy="960120"/>
          </a:xfrm>
          <a:prstGeom prst="rect">
            <a:avLst/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10" name="kpi2 angka"/>
          <p:cNvSpPr txBox="1"/>
          <p:nvPr/>
        </p:nvSpPr>
        <p:spPr>
          <a:xfrm>
            <a:off x="4663440" y="1234440"/>
            <a:ext cx="192024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37E"/>
                </a:solidFill>
              </a:rPr>
              <a:t>19,95%</a:t>
            </a:r>
            <a:endParaRPr lang="en-US" sz="2600" dirty="0"/>
          </a:p>
        </p:txBody>
      </p:sp>
      <p:sp>
        <p:nvSpPr>
          <p:cNvPr id="11" name="kpi2 label"/>
          <p:cNvSpPr txBox="1"/>
          <p:nvPr/>
        </p:nvSpPr>
        <p:spPr>
          <a:xfrm>
            <a:off x="4754880" y="1699870"/>
            <a:ext cx="1737360" cy="336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Margin profit</a:t>
            </a:r>
            <a:endParaRPr lang="en-US" sz="1200" dirty="0"/>
          </a:p>
        </p:txBody>
      </p:sp>
      <p:sp>
        <p:nvSpPr>
          <p:cNvPr id="12" name="kpi3 kartu"/>
          <p:cNvSpPr/>
          <p:nvPr/>
        </p:nvSpPr>
        <p:spPr>
          <a:xfrm>
            <a:off x="6766560" y="1143000"/>
            <a:ext cx="1920240" cy="960120"/>
          </a:xfrm>
          <a:prstGeom prst="rect">
            <a:avLst/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13" name="kpi3 angka"/>
          <p:cNvSpPr txBox="1"/>
          <p:nvPr/>
        </p:nvSpPr>
        <p:spPr>
          <a:xfrm>
            <a:off x="6766560" y="1234440"/>
            <a:ext cx="192024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37E"/>
                </a:solidFill>
              </a:rPr>
              <a:t>3,99</a:t>
            </a:r>
            <a:endParaRPr lang="en-US" sz="2600" dirty="0"/>
          </a:p>
        </p:txBody>
      </p:sp>
      <p:sp>
        <p:nvSpPr>
          <p:cNvPr id="14" name="kpi3 label"/>
          <p:cNvSpPr txBox="1"/>
          <p:nvPr/>
        </p:nvSpPr>
        <p:spPr>
          <a:xfrm>
            <a:off x="6858000" y="1699870"/>
            <a:ext cx="1737360" cy="336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Rating rata-rata</a:t>
            </a:r>
            <a:endParaRPr lang="en-US" sz="1200" dirty="0"/>
          </a:p>
        </p:txBody>
      </p:sp>
      <p:sp>
        <p:nvSpPr>
          <p:cNvPr id="16" name="Catatan tren"/>
          <p:cNvSpPr txBox="1"/>
          <p:nvPr/>
        </p:nvSpPr>
        <p:spPr>
          <a:xfrm>
            <a:off x="5852160" y="256032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2025 naik sekitar 21%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dari 2024 (USD 1,64 juta menjadi 2,00 juta).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Dihitung dari 15.510 transaksi dengan status Completed, Shipped, dan Processing.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9F320AC-6280-0457-A874-320528998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92" y="2501342"/>
            <a:ext cx="4867285" cy="24292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Diskon adalah penentu utama margin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Penjelasan diskon"/>
          <p:cNvSpPr txBox="1"/>
          <p:nvPr/>
        </p:nvSpPr>
        <p:spPr>
          <a:xfrm>
            <a:off x="6126480" y="1280160"/>
            <a:ext cx="2651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Setiap tambahan diskon menggerus margin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Tanpa diskon, margin 25,1%. Pada diskon 20%, margin tinggal 6,2% dan </a:t>
            </a:r>
            <a:r>
              <a:rPr lang="en-US" sz="1400" dirty="0" err="1">
                <a:solidFill>
                  <a:srgbClr val="1F2937"/>
                </a:solidFill>
              </a:rPr>
              <a:t>transaksi</a:t>
            </a:r>
            <a:r>
              <a:rPr lang="en-US" sz="1400" dirty="0">
                <a:solidFill>
                  <a:srgbClr val="1F2937"/>
                </a:solidFill>
              </a:rPr>
              <a:t> merugi.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Di diskon 25%, hampir 3 dari 10 transaksi merugi.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 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A7CF2F-890A-FD1C-E143-8E251E854A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30"/>
          <a:stretch>
            <a:fillRect/>
          </a:stretch>
        </p:blipFill>
        <p:spPr>
          <a:xfrm>
            <a:off x="1022453" y="1520687"/>
            <a:ext cx="4471143" cy="25841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7E"/>
                </a:solidFill>
              </a:rPr>
              <a:t>Elektronik dan Amerika Serikat mendominasi penjualan</a:t>
            </a:r>
            <a:endParaRPr lang="en-US" sz="2400" dirty="0"/>
          </a:p>
        </p:txBody>
      </p:sp>
      <p:sp>
        <p:nvSpPr>
          <p:cNvPr id="6" name="Ringkasan segmen"/>
          <p:cNvSpPr txBox="1"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Elektronik menyumbang sekitar 60% penjualan dengan margin 19%. Appliances paling kecil, tetapi marginnya tertinggi (22%). Amerika Serikat sekitar 43% dari total, dan channel Online terbesar (sekitar 37%).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FACDD8-FA53-BAAA-C693-FF5CE26A79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08"/>
          <a:stretch>
            <a:fillRect/>
          </a:stretch>
        </p:blipFill>
        <p:spPr>
          <a:xfrm>
            <a:off x="6330356" y="1587694"/>
            <a:ext cx="2614861" cy="17623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4DEA194-50C4-07AE-AAAB-4066282D04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57" r="5236"/>
          <a:stretch>
            <a:fillRect/>
          </a:stretch>
        </p:blipFill>
        <p:spPr>
          <a:xfrm>
            <a:off x="3279913" y="1587694"/>
            <a:ext cx="2755128" cy="16385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AA24AF0-D30D-E382-B47E-1163F6792A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026" y="1587694"/>
            <a:ext cx="2925284" cy="16385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7E"/>
                </a:solidFill>
              </a:rPr>
              <a:t>Rekomendasi bisnis</a:t>
            </a:r>
            <a:endParaRPr lang="en-US" sz="2400" dirty="0"/>
          </a:p>
        </p:txBody>
      </p:sp>
      <p:sp>
        <p:nvSpPr>
          <p:cNvPr id="3" name="Kartu rekomendasi 1"/>
          <p:cNvSpPr/>
          <p:nvPr/>
        </p:nvSpPr>
        <p:spPr>
          <a:xfrm>
            <a:off x="457200" y="1280160"/>
            <a:ext cx="2606040" cy="3017520"/>
          </a:xfrm>
          <a:prstGeom prst="rect">
            <a:avLst/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4" name="Aksen 1"/>
          <p:cNvSpPr/>
          <p:nvPr/>
        </p:nvSpPr>
        <p:spPr>
          <a:xfrm>
            <a:off x="457200" y="1280160"/>
            <a:ext cx="26060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Judul rekomendasi 1"/>
          <p:cNvSpPr txBox="1"/>
          <p:nvPr/>
        </p:nvSpPr>
        <p:spPr>
          <a:xfrm>
            <a:off x="640080" y="15087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237E"/>
                </a:solidFill>
              </a:rPr>
              <a:t>Batasi diskon</a:t>
            </a:r>
            <a:endParaRPr lang="en-US" sz="1800" dirty="0"/>
          </a:p>
        </p:txBody>
      </p:sp>
      <p:sp>
        <p:nvSpPr>
          <p:cNvPr id="6" name="Isi rekomendasi 1"/>
          <p:cNvSpPr txBox="1"/>
          <p:nvPr/>
        </p:nvSpPr>
        <p:spPr>
          <a:xfrm>
            <a:off x="640080" y="228600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Pertahankan diskon di bawah 20% kecuali ada tujuan strategis yang jelas, karena margin turun cepat setelah itu.</a:t>
            </a:r>
            <a:endParaRPr lang="en-US" sz="1400" dirty="0"/>
          </a:p>
        </p:txBody>
      </p:sp>
      <p:sp>
        <p:nvSpPr>
          <p:cNvPr id="7" name="Kartu rekomendasi 2"/>
          <p:cNvSpPr/>
          <p:nvPr/>
        </p:nvSpPr>
        <p:spPr>
          <a:xfrm>
            <a:off x="3246120" y="1280160"/>
            <a:ext cx="2606040" cy="3017520"/>
          </a:xfrm>
          <a:prstGeom prst="rect">
            <a:avLst/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8" name="Aksen 2"/>
          <p:cNvSpPr/>
          <p:nvPr/>
        </p:nvSpPr>
        <p:spPr>
          <a:xfrm>
            <a:off x="3246120" y="1280160"/>
            <a:ext cx="26060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Judul rekomendasi 2"/>
          <p:cNvSpPr txBox="1"/>
          <p:nvPr/>
        </p:nvSpPr>
        <p:spPr>
          <a:xfrm>
            <a:off x="3429000" y="15087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237E"/>
                </a:solidFill>
              </a:rPr>
              <a:t>Evaluasi kode promo</a:t>
            </a:r>
            <a:endParaRPr lang="en-US" sz="1800" dirty="0"/>
          </a:p>
        </p:txBody>
      </p:sp>
      <p:sp>
        <p:nvSpPr>
          <p:cNvPr id="10" name="Isi rekomendasi 2"/>
          <p:cNvSpPr txBox="1"/>
          <p:nvPr/>
        </p:nvSpPr>
        <p:spPr>
          <a:xfrm>
            <a:off x="3429000" y="228600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Transaksi dengan promo tidak menghasilkan margin lebih baik daripada tanpa promo, jadi efektivitasnya perlu diuji.</a:t>
            </a:r>
            <a:endParaRPr lang="en-US" sz="1400" dirty="0"/>
          </a:p>
        </p:txBody>
      </p:sp>
      <p:sp>
        <p:nvSpPr>
          <p:cNvPr id="11" name="Kartu rekomendasi 3"/>
          <p:cNvSpPr/>
          <p:nvPr/>
        </p:nvSpPr>
        <p:spPr>
          <a:xfrm>
            <a:off x="6035040" y="1280160"/>
            <a:ext cx="2606040" cy="3017520"/>
          </a:xfrm>
          <a:prstGeom prst="rect">
            <a:avLst/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12" name="Aksen 3"/>
          <p:cNvSpPr/>
          <p:nvPr/>
        </p:nvSpPr>
        <p:spPr>
          <a:xfrm>
            <a:off x="6035040" y="1280160"/>
            <a:ext cx="26060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Judul rekomendasi 3"/>
          <p:cNvSpPr txBox="1"/>
          <p:nvPr/>
        </p:nvSpPr>
        <p:spPr>
          <a:xfrm>
            <a:off x="6217920" y="15087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237E"/>
                </a:solidFill>
              </a:rPr>
              <a:t>Jaga Elektronik, dorong Appliances</a:t>
            </a:r>
            <a:endParaRPr lang="en-US" sz="1800" dirty="0"/>
          </a:p>
        </p:txBody>
      </p:sp>
      <p:sp>
        <p:nvSpPr>
          <p:cNvPr id="14" name="Isi rekomendasi 3"/>
          <p:cNvSpPr txBox="1"/>
          <p:nvPr/>
        </p:nvSpPr>
        <p:spPr>
          <a:xfrm>
            <a:off x="6217920" y="228600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Elektronik adalah mesin penjualan, sedangkan Appliances punya margin tertinggi dan ruang untuk tumbuh.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les">
  <a:themeElements>
    <a:clrScheme name="Sales">
      <a:dk1>
        <a:srgbClr val="1F2937"/>
      </a:dk1>
      <a:lt1>
        <a:srgbClr val="FFFFFF"/>
      </a:lt1>
      <a:dk2>
        <a:srgbClr val="1A237E"/>
      </a:dk2>
      <a:lt2>
        <a:srgbClr val="F3F4F8"/>
      </a:lt2>
      <a:accent1>
        <a:srgbClr val="1A237E"/>
      </a:accent1>
      <a:accent2>
        <a:srgbClr val="F59E0B"/>
      </a:accent2>
      <a:accent3>
        <a:srgbClr val="3B82F6"/>
      </a:accent3>
      <a:accent4>
        <a:srgbClr val="10B981"/>
      </a:accent4>
      <a:accent5>
        <a:srgbClr val="EF4444"/>
      </a:accent5>
      <a:accent6>
        <a:srgbClr val="6B7280"/>
      </a:accent6>
      <a:hlink>
        <a:srgbClr val="3B82F6"/>
      </a:hlink>
      <a:folHlink>
        <a:srgbClr val="6B7280"/>
      </a:folHlink>
    </a:clrScheme>
    <a:fontScheme name="Sale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452</Words>
  <Application>Microsoft Office PowerPoint</Application>
  <PresentationFormat>On-screen Show (16:9)</PresentationFormat>
  <Paragraphs>62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Sales</vt:lpstr>
      <vt:lpstr>PowerPoint Presentation</vt:lpstr>
      <vt:lpstr>Data mentah dibersihkan menjadi 18.000 baris yang bisa dipercaya</vt:lpstr>
      <vt:lpstr>Penjualan USD 7,13 juta dengan margin sekitar 20%</vt:lpstr>
      <vt:lpstr>Diskon adalah penentu utama margin</vt:lpstr>
      <vt:lpstr>Elektronik dan Amerika Serikat mendominasi penjualan</vt:lpstr>
      <vt:lpstr>Rekomendasi bisnis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Analisis Performa Penjualan Retail 2022–2025</dc:title>
  <dc:subject>PptxGenJS Presentation</dc:subject>
  <dc:creator>Farrel Rizki Utama</dc:creator>
  <cp:lastModifiedBy>ASUS</cp:lastModifiedBy>
  <cp:revision>2</cp:revision>
  <dcterms:created xsi:type="dcterms:W3CDTF">2026-10-26T17:24:31Z</dcterms:created>
  <dcterms:modified xsi:type="dcterms:W3CDTF">2026-10-26T17:40:04Z</dcterms:modified>
</cp:coreProperties>
</file>